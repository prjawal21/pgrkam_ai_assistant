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7" r:id="rId4"/>
    <p:sldId id="279" r:id="rId5"/>
    <p:sldId id="282" r:id="rId6"/>
    <p:sldId id="275" r:id="rId7"/>
    <p:sldId id="276" r:id="rId8"/>
    <p:sldId id="273" r:id="rId9"/>
    <p:sldId id="268" r:id="rId10"/>
    <p:sldId id="278" r:id="rId11"/>
    <p:sldId id="270" r:id="rId12"/>
    <p:sldId id="265" r:id="rId13"/>
    <p:sldId id="280" r:id="rId14"/>
    <p:sldId id="283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PSCS_17_ 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LLM BASED CHATBOT FOR PGRKAM EMPLOYMENT PORTAL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CSE_261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endParaRPr lang="en-IN" sz="18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Ms. Saiqa </a:t>
            </a:r>
            <a:r>
              <a:rPr 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Khan N</a:t>
            </a:r>
          </a:p>
          <a:p>
            <a:pPr>
              <a:spcBef>
                <a:spcPts val="340"/>
              </a:spcBef>
              <a:buSzPts val="1700"/>
            </a:pPr>
            <a:r>
              <a:rPr 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Professor </a:t>
            </a:r>
            <a:endParaRPr lang="en-GB">
              <a:latin typeface="Cambria"/>
              <a:ea typeface="Cambria"/>
              <a:sym typeface="Verdana" panose="020B0604030504040204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School</a:t>
            </a:r>
            <a:r>
              <a:rPr lang="en-GB" sz="1700" b="1" i="0" u="none" strike="noStrike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of Computer Science and Engineering</a:t>
            </a:r>
            <a:endParaRPr>
              <a:latin typeface="Cambria"/>
              <a:ea typeface="Cambri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Review-1</a:t>
            </a:r>
            <a:endParaRPr sz="1800" b="1" i="0" u="none" strike="noStrike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5448" y="4543044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Engineering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Dr.Asif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J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ayavadivel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Ravi</a:t>
            </a:r>
            <a:endParaRPr lang="en-US" alt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, Dr. Geetha A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804515"/>
              </p:ext>
            </p:extLst>
          </p:nvPr>
        </p:nvGraphicFramePr>
        <p:xfrm>
          <a:off x="356616" y="2706624"/>
          <a:ext cx="5843016" cy="1574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1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287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GB" sz="1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7365D"/>
                          </a:solidFill>
                          <a:effectLst/>
                          <a:uLnTx/>
                          <a:uFillTx/>
                          <a:latin typeface="+mj-lt"/>
                          <a:cs typeface="+mj-lt"/>
                          <a:sym typeface="Arial" panose="020B0604020202020204"/>
                        </a:rPr>
                        <a:t>Roll Number</a:t>
                      </a:r>
                    </a:p>
                    <a:p>
                      <a:pPr algn="ctr"/>
                      <a:endParaRPr lang="en-IN">
                        <a:latin typeface="+mj-lt"/>
                        <a:cs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Student Name</a:t>
                      </a:r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67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20221CSE0332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PRAJWAL P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859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20221CSE0425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 VISHAL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67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20221CSE0483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</a:t>
                      </a:r>
                      <a:r>
                        <a:rPr lang="en-IN"/>
                        <a:t>RAYAS MOHANTY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1249680"/>
            <a:ext cx="10668000" cy="4107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Literature Survey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Existing Methods and Drawbacks</a:t>
            </a:r>
            <a:endParaRPr lang="en-US" altLang="en-US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Proposed Method &amp; Feasibility Study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Architecture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Hardware and Software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Timeline (Gantt Chart)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5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Abstract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altLang="en-US" sz="2285" b="1" dirty="0">
                <a:latin typeface="Cambria" panose="02040503050406030204" pitchFamily="18" charset="0"/>
                <a:cs typeface="Cambria" panose="02040503050406030204" pitchFamily="18" charset="0"/>
              </a:rPr>
              <a:t>Concise overview:</a:t>
            </a:r>
          </a:p>
          <a:p>
            <a:pPr marL="76200" indent="0">
              <a:buNone/>
            </a:pPr>
            <a:endParaRPr lang="en-US" altLang="en-US" sz="2285" b="1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dirty="0"/>
              <a:t>This project aims to develop a smart, LLM-powered chatbot for the Government of Punjab’s PGRCAM digital employment platform. The chatbot will use advanced models like ChatGPT (transformers, such as GPT-3) to answer user queries about job searches, skill development, and counseling in English, Hindi, and Punjabi, supporting both text and voice input. The goal is to provide personalized, multilingual guidance; maintain user history for tailored recommendations; and streamline user navigation across diverse platform modules—empowering users to easily access employment and skill resources via web or mobile.</a:t>
            </a:r>
            <a:endParaRPr lang="en-US" altLang="en-US" sz="2285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Literature Survey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945" y="952500"/>
            <a:ext cx="11764645" cy="4953000"/>
          </a:xfrm>
        </p:spPr>
        <p:txBody>
          <a:bodyPr>
            <a:noAutofit/>
          </a:bodyPr>
          <a:lstStyle/>
          <a:p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Paper 1: An LLM-Driven Chatbot in Higher Education for Databases and Information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SystemsCitation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(IEEE Format): A. T. Neumann, Y. Yin, S. Sowe, S. Decker, and M. Jarke, “An LLM-Driven Chatbot in Higher Education for Databases and Information Systems,” IEEE Transactions on Education, vol. 68, no. 1, pp. 103–115, Feb. 2025, doi:10.1109/TE.2024.3467912.</a:t>
            </a:r>
          </a:p>
          <a:p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Paper 2: A Complete Survey on LLM-based AI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ChatbotsCitation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(IEEE Format): S. K. Dam, C. S. Hong, Y. Qiao, and C. Zhang, “A Complete Survey on LLM-based AI Chatbots,” IEEE Access, vol. 12, pp. 158923–158947, Nov. 2024, doi:10.1109/ACCESS.2024.3526789.</a:t>
            </a:r>
          </a:p>
          <a:p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Paper 3: Chatbots in Education and Research: A Critical Examination of Ethical Implications and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SolutionsCitation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(IEEE Format): C. Kooli, “Chatbots in Education and Research: A Critical Examination of Ethical Implications and Solutions,” Sustainability, vol. 15, no. 7, p. 5614, Mar. 2023, doi:10.3390/su15075614.</a:t>
            </a:r>
          </a:p>
          <a:p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Paper 4: A Survey on ChatGPT: Technology, Applications, and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ChallengesCitation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(IEEE Format): M. S. R. Chowdhury, M. A. Rahman, and T. Rahman, “A Survey on ChatGPT: Technology, Applications, and Challenges,” Computers, vol. 12, no. 3, p. 60, Mar. 2023, doi:10.3390/computers12030060.</a:t>
            </a:r>
          </a:p>
          <a:p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Paper 5: Unsupervised Occupation Extraction and Standardization Leveraging Large Language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ModelsCitation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(IEEE Format): N. Li, B. Kang, and T. De Bie, “LLM4Jobs: Unsupervised occupation extraction and standardization leveraging Large Language Models,”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arXiv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preprint arXiv:2309.09708v2, 2023.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85433"/>
            <a:ext cx="10668000" cy="487500"/>
          </a:xfrm>
        </p:spPr>
        <p:txBody>
          <a:bodyPr/>
          <a:lstStyle/>
          <a:p>
            <a:r>
              <a:rPr lang="en-US" altLang="en-US"/>
              <a:t>Literature Survey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020" y="1051560"/>
            <a:ext cx="11798935" cy="4953000"/>
          </a:xfrm>
        </p:spPr>
        <p:txBody>
          <a:bodyPr>
            <a:noAutofit/>
          </a:bodyPr>
          <a:lstStyle/>
          <a:p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Paper 6: Development of an Academic Services Chatbot Based on Retrieval-Augmented Generation (RAGAS)Citation (IEEE Format): M. L. Husain, Y. Wibisono, and A.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Anisyah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, “Development of an Academic Services Chatbot Based on Retrieval-Augmented Generation (RAGAS),” Brilliance: Research of Artificial Intelligence, vol. 7, no. 2, pp. 111–121, 2024.</a:t>
            </a:r>
          </a:p>
          <a:p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Paper 7: Beyond Traditional Teaching: The Potential of Large Language Models and Chatbots in Graduate Engineering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EducationCitation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(IEEE Format): M. Abedi, et al., “Beyond Traditional Teaching: The Potential of Large Language Models and Chatbots in Graduate Engineering Education,”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arXiv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preprint arXiv:2309.13059, 2023.</a:t>
            </a:r>
          </a:p>
          <a:p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Paper 8: Memory-Augmented Large Language Model for Enhanced Chatbot Services in University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LMSCitation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(IEEE Format): J. Kim, et al., “Memory-Augmented Large Language Model for Enhanced Chatbot Services in University Learning Management Systems,” Applied Sciences, vol. 15, no. 17, p. 9775, 2025.</a:t>
            </a:r>
          </a:p>
          <a:p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Paper 9: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RAGged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Edges: The Double-Edged Sword of Retrieval-Augmented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ChatbotsCitation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(IEEE Format): P. Feldman, J. R. Foulds, and S. Pan, “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RAGged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Edges: The Double-Edged Sword of Retrieval-Augmented Chatbots,” 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arXiv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preprint arXiv:2403.01193, 2024.</a:t>
            </a:r>
          </a:p>
          <a:p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Paper 10: Towards Optimizing and Evaluating a Retrieval-Augmented QA Chatbot Using LLMs with Human-in-the-</a:t>
            </a:r>
            <a:r>
              <a:rPr lang="en-US" altLang="en-US" sz="1800" dirty="0" err="1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LoopCitation</a:t>
            </a:r>
            <a:r>
              <a:rPr lang="en-US" altLang="en-US" sz="1800" dirty="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 (IEEE Format): A. Afzal, A. Kowsik, R. Fani, and F. Matthes, “Towards Optimizing and Evaluating a Retrieval-Augmented QA Chatbot Using LLMs with Human-in-the-Loop,” in Proc. DASH Workshop at EMNLP, 2024.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Objectives</a:t>
            </a: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Provide a smart chatbot assistant that guides users through all modules and services of the PGRCAM digital employment platform, minimizing the need for manual navigation.</a:t>
            </a:r>
            <a:endParaRPr lang="en-US" altLang="en-US" sz="2000" dirty="0"/>
          </a:p>
          <a:p>
            <a:r>
              <a:rPr lang="en-IN" dirty="0"/>
              <a:t>Multilingual and Multimodal Support</a:t>
            </a:r>
            <a:endParaRPr lang="en-US" dirty="0"/>
          </a:p>
          <a:p>
            <a:r>
              <a:rPr lang="en-US" dirty="0"/>
              <a:t>Maintain user history and preferences within the app to deliver tailored job, skill development, and counseling suggestions according to individual candidate profiles.</a:t>
            </a:r>
          </a:p>
          <a:p>
            <a:r>
              <a:rPr lang="en-US" dirty="0"/>
              <a:t>Use LLM-driven AI to quickly answer user questions regarding jobs, skill development, or counseling, thereby reducing the time and effort required for users to find relevant information on the platform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035" y="437198"/>
            <a:ext cx="10668000" cy="487500"/>
          </a:xfrm>
        </p:spPr>
        <p:txBody>
          <a:bodyPr/>
          <a:lstStyle/>
          <a:p>
            <a:r>
              <a:rPr lang="en-US" altLang="en-US"/>
              <a:t>Existing Methods and Drawbacks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035" y="1143000"/>
            <a:ext cx="11235690" cy="4953000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altLang="en-US" sz="2000" dirty="0"/>
              <a:t>Traditional methods:</a:t>
            </a:r>
            <a:r>
              <a:rPr lang="en-IN" sz="2000" dirty="0"/>
              <a:t>Traditional Web Portal Navigation,</a:t>
            </a:r>
            <a:r>
              <a:rPr lang="en-IN" dirty="0"/>
              <a:t> </a:t>
            </a:r>
            <a:r>
              <a:rPr lang="en-IN" sz="2000" dirty="0"/>
              <a:t>Static Information Pages and FAQs,</a:t>
            </a:r>
            <a:r>
              <a:rPr lang="en-IN" dirty="0"/>
              <a:t> </a:t>
            </a:r>
            <a:r>
              <a:rPr lang="en-IN" sz="2000" dirty="0"/>
              <a:t>Helplines or Email Support</a:t>
            </a:r>
          </a:p>
          <a:p>
            <a:pPr marL="76200" indent="0">
              <a:buNone/>
            </a:pPr>
            <a:endParaRPr lang="en-US" altLang="en-US" sz="2000" dirty="0"/>
          </a:p>
          <a:p>
            <a:pPr marL="76200" indent="0">
              <a:buNone/>
            </a:pPr>
            <a:r>
              <a:rPr lang="en-US" altLang="en-US" sz="2000" dirty="0"/>
              <a:t>Websites/apps: limited personalization, poor multilingual integration, navigation issues.</a:t>
            </a:r>
          </a:p>
          <a:p>
            <a:pPr marL="76200" indent="0">
              <a:buNone/>
            </a:pPr>
            <a:endParaRPr lang="en-US" altLang="en-US" sz="2000" dirty="0"/>
          </a:p>
          <a:p>
            <a:pPr marL="76200" indent="0">
              <a:buNone/>
            </a:pPr>
            <a:r>
              <a:rPr lang="en-US" altLang="en-US" sz="2000" dirty="0"/>
              <a:t>Existing chatbots: often single-language, limited transaction handling.</a:t>
            </a:r>
          </a:p>
          <a:p>
            <a:pPr marL="76200" indent="0">
              <a:buNone/>
            </a:pPr>
            <a:endParaRPr lang="en-US" altLang="en-US" sz="2000" dirty="0"/>
          </a:p>
          <a:p>
            <a:pPr marL="76200" indent="0">
              <a:buNone/>
            </a:pPr>
            <a:r>
              <a:rPr lang="en-US" altLang="en-US" sz="2000" dirty="0"/>
              <a:t>Drawbacks:</a:t>
            </a:r>
            <a:r>
              <a:rPr lang="en-IN" sz="2000" dirty="0"/>
              <a:t>Lack of Intelligent Guidance,</a:t>
            </a:r>
            <a:r>
              <a:rPr lang="en-IN" dirty="0"/>
              <a:t> </a:t>
            </a:r>
            <a:r>
              <a:rPr lang="en-IN" sz="2000" dirty="0"/>
              <a:t>Manual and Time-Consuming Process,</a:t>
            </a:r>
            <a:r>
              <a:rPr lang="en-IN" dirty="0"/>
              <a:t> </a:t>
            </a:r>
            <a:r>
              <a:rPr lang="en-IN" sz="2000" dirty="0"/>
              <a:t>Limited Personalization,</a:t>
            </a:r>
            <a:r>
              <a:rPr lang="en-IN" dirty="0"/>
              <a:t> </a:t>
            </a:r>
            <a:r>
              <a:rPr lang="en-IN" sz="2000" dirty="0"/>
              <a:t>Insufficient Accessibility,</a:t>
            </a:r>
            <a:r>
              <a:rPr lang="en-US" dirty="0"/>
              <a:t> </a:t>
            </a:r>
            <a:r>
              <a:rPr lang="en-US" sz="2000" dirty="0"/>
              <a:t>Low Engagement and User Satisfaction</a:t>
            </a:r>
          </a:p>
          <a:p>
            <a:pPr marL="76200" indent="0">
              <a:buNone/>
            </a:pPr>
            <a:endParaRPr lang="en-IN" sz="2000" dirty="0"/>
          </a:p>
          <a:p>
            <a:pPr marL="76200" indent="0">
              <a:buNone/>
            </a:pPr>
            <a:endParaRPr lang="en-IN" sz="2000" dirty="0"/>
          </a:p>
          <a:p>
            <a:pPr marL="76200" indent="0">
              <a:buNone/>
            </a:pPr>
            <a:endParaRPr lang="en-IN" sz="2000" dirty="0"/>
          </a:p>
          <a:p>
            <a:pPr marL="76200" indent="0">
              <a:buNone/>
            </a:pPr>
            <a:endParaRPr lang="en-IN" sz="2000" dirty="0"/>
          </a:p>
          <a:p>
            <a:pPr marL="76200" indent="0"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78460" y="1143000"/>
            <a:ext cx="1110234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Proposed Method: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sz="2000" dirty="0"/>
              <a:t>The proposed method is to develop and deploy an LLM-powered smart chatbot that acts as an intelligent, personalized digital assistant integrated into the PGRCAM employment platform. This approach will leverage state-of-the-art transformer models (e.g., ChatGPT, GPT-3) to address existing drawbacks by offering interactive, real-time support tailored to each user’s needs</a:t>
            </a:r>
            <a:r>
              <a:rPr lang="en-US" dirty="0"/>
              <a:t>.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Feasibility: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Technology: uses existing frameworks (low development cost).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Cost: mostly open-source tools.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Resources: student-level feasible with available online resources.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85433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2349500" y="2624667"/>
            <a:ext cx="6822252" cy="239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 descr="Simple architectural diagram for LLM chatbot on Kubernetes">
            <a:extLst>
              <a:ext uri="{FF2B5EF4-FFF2-40B4-BE49-F238E27FC236}">
                <a16:creationId xmlns:a16="http://schemas.microsoft.com/office/drawing/2014/main" id="{676FFDC2-7562-88FB-E2E5-4FE73F6FF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1329267"/>
            <a:ext cx="6578600" cy="4385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Modules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735" y="1143001"/>
            <a:ext cx="10668000" cy="4953000"/>
          </a:xfrm>
        </p:spPr>
        <p:txBody>
          <a:bodyPr>
            <a:normAutofit/>
          </a:bodyPr>
          <a:lstStyle/>
          <a:p>
            <a:r>
              <a:rPr lang="en-IN" dirty="0"/>
              <a:t>User Interaction Module</a:t>
            </a:r>
          </a:p>
          <a:p>
            <a:r>
              <a:rPr lang="en-IN" dirty="0"/>
              <a:t>Chatbot Engine Module</a:t>
            </a:r>
          </a:p>
          <a:p>
            <a:r>
              <a:rPr lang="en-IN" dirty="0"/>
              <a:t>Recommendation &amp; Personalization Module</a:t>
            </a:r>
          </a:p>
          <a:p>
            <a:r>
              <a:rPr lang="en-IN" dirty="0"/>
              <a:t>Integration Module</a:t>
            </a:r>
          </a:p>
          <a:p>
            <a:r>
              <a:rPr lang="en-IN" dirty="0"/>
              <a:t>Deployment &amp; Orchestration Module</a:t>
            </a:r>
          </a:p>
          <a:p>
            <a:r>
              <a:rPr lang="en-IN" dirty="0"/>
              <a:t>Autoscaling Module</a:t>
            </a:r>
          </a:p>
          <a:p>
            <a:r>
              <a:rPr lang="en-IN" dirty="0"/>
              <a:t>Security Module</a:t>
            </a:r>
          </a:p>
          <a:p>
            <a:pPr marL="76200" indent="0">
              <a:buNone/>
            </a:pPr>
            <a:endParaRPr lang="en-IN" dirty="0"/>
          </a:p>
          <a:p>
            <a:endParaRPr lang="en-US" altLang="en-US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endParaRPr lang="en-US" altLang="en-US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76200" indent="0">
              <a:buNone/>
            </a:pPr>
            <a:endParaRPr lang="en-US" altLang="en-US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00355" y="1143000"/>
            <a:ext cx="1157097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Hardware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34290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Laptop/server, </a:t>
            </a:r>
          </a:p>
          <a:p>
            <a:pPr marL="34290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Internet.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</a:p>
          <a:p>
            <a:pPr marL="495300" indent="-342900">
              <a:spcBef>
                <a:spcPts val="0"/>
              </a:spcBef>
              <a:buSzPct val="100000"/>
            </a:pPr>
            <a:r>
              <a:rPr lang="en-IN" dirty="0"/>
              <a:t> Programming Language: Python 3.10</a:t>
            </a:r>
          </a:p>
          <a:p>
            <a:pPr marL="495300" indent="-342900">
              <a:spcBef>
                <a:spcPts val="0"/>
              </a:spcBef>
              <a:buSzPct val="100000"/>
            </a:pPr>
            <a:r>
              <a:rPr lang="en-IN" dirty="0"/>
              <a:t> Backend Framework: </a:t>
            </a:r>
            <a:r>
              <a:rPr lang="en-IN" dirty="0" err="1"/>
              <a:t>FastAPI</a:t>
            </a:r>
            <a:endParaRPr lang="en-IN" dirty="0"/>
          </a:p>
          <a:p>
            <a:pPr marL="495300" indent="-342900">
              <a:spcBef>
                <a:spcPts val="0"/>
              </a:spcBef>
              <a:buSzPct val="100000"/>
            </a:pPr>
            <a:r>
              <a:rPr lang="en-IN" dirty="0"/>
              <a:t> Frontend: React.js</a:t>
            </a:r>
          </a:p>
          <a:p>
            <a:pPr marL="495300" indent="-342900">
              <a:spcBef>
                <a:spcPts val="0"/>
              </a:spcBef>
              <a:buSzPct val="100000"/>
            </a:pPr>
            <a:r>
              <a:rPr lang="en-IN" dirty="0"/>
              <a:t> LLM Integration: OpenAI API </a:t>
            </a:r>
          </a:p>
          <a:p>
            <a:pPr marL="495300" indent="-342900">
              <a:spcBef>
                <a:spcPts val="0"/>
              </a:spcBef>
              <a:buSzPct val="100000"/>
            </a:pPr>
            <a:r>
              <a:rPr lang="en-IN" dirty="0"/>
              <a:t>RAG Implementation: </a:t>
            </a:r>
            <a:r>
              <a:rPr lang="en-IN" dirty="0" err="1"/>
              <a:t>LangChain</a:t>
            </a:r>
            <a:endParaRPr lang="en-IN" dirty="0"/>
          </a:p>
          <a:p>
            <a:pPr marL="495300" indent="-342900">
              <a:spcBef>
                <a:spcPts val="0"/>
              </a:spcBef>
              <a:buSzPct val="100000"/>
            </a:pPr>
            <a:r>
              <a:rPr lang="en-IN" dirty="0"/>
              <a:t>Database: PostgreSQL(powerful open-source relational database) </a:t>
            </a:r>
          </a:p>
          <a:p>
            <a:pPr marL="495300" indent="-342900">
              <a:spcBef>
                <a:spcPts val="0"/>
              </a:spcBef>
              <a:buSzPct val="100000"/>
            </a:pPr>
            <a:r>
              <a:rPr lang="en-IN" dirty="0"/>
              <a:t>Vector Database: Pinecone(database built to store and search through vectors) </a:t>
            </a:r>
          </a:p>
          <a:p>
            <a:pPr marL="495300" indent="-342900">
              <a:spcBef>
                <a:spcPts val="0"/>
              </a:spcBef>
              <a:buSzPct val="100000"/>
            </a:pPr>
            <a:r>
              <a:rPr lang="en-IN" dirty="0"/>
              <a:t>Version Control: Git &amp; GitHub </a:t>
            </a:r>
          </a:p>
          <a:p>
            <a:pPr marL="495300" indent="-342900">
              <a:spcBef>
                <a:spcPts val="0"/>
              </a:spcBef>
              <a:buSzPct val="100000"/>
            </a:pPr>
            <a:r>
              <a:rPr lang="en-IN" dirty="0"/>
              <a:t>Deployment: Docker, AWS EC2 </a:t>
            </a:r>
          </a:p>
          <a:p>
            <a:pPr marL="495300" indent="-342900">
              <a:spcBef>
                <a:spcPts val="0"/>
              </a:spcBef>
              <a:buSzPct val="100000"/>
            </a:pPr>
            <a:r>
              <a:rPr lang="en-IN" dirty="0"/>
              <a:t>Environment Management: Conda(package manager)</a:t>
            </a:r>
          </a:p>
          <a:p>
            <a:pPr marL="495300" indent="-342900">
              <a:spcBef>
                <a:spcPts val="0"/>
              </a:spcBef>
              <a:buSzPct val="100000"/>
            </a:pPr>
            <a:r>
              <a:rPr lang="en-IN" dirty="0"/>
              <a:t>IDE: Visual Studio Code 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7F8120-2BA1-2616-97CA-1CF28AEEB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711" y="1188715"/>
            <a:ext cx="9052578" cy="44805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7500"/>
          </a:bodyPr>
          <a:lstStyle/>
          <a:p>
            <a:pPr>
              <a:defRPr sz="1200"/>
            </a:pPr>
            <a:r>
              <a:rPr lang="en-IN" sz="2500" dirty="0">
                <a:solidFill>
                  <a:srgbClr val="000000"/>
                </a:solidFill>
                <a:latin typeface="Calibri"/>
              </a:rPr>
              <a:t>[1] J. Smith, 'An LLM-Driven Chatbot in Higher Education for Databases and Information Systems', IEEE, 2024.</a:t>
            </a:r>
          </a:p>
          <a:p>
            <a:pPr>
              <a:defRPr sz="1200"/>
            </a:pPr>
            <a:r>
              <a:rPr lang="en-IN" sz="2500" dirty="0">
                <a:solidFill>
                  <a:srgbClr val="000000"/>
                </a:solidFill>
                <a:latin typeface="Calibri"/>
              </a:rPr>
              <a:t>[2] M. Johnson, 'A Complete Survey on LLM-based AI Chatbots', IEEE Access, 2024.</a:t>
            </a:r>
          </a:p>
          <a:p>
            <a:pPr>
              <a:defRPr sz="1200"/>
            </a:pPr>
            <a:r>
              <a:rPr lang="en-IN" sz="2500" dirty="0">
                <a:solidFill>
                  <a:srgbClr val="000000"/>
                </a:solidFill>
                <a:latin typeface="Calibri"/>
              </a:rPr>
              <a:t>[3] S. Kumar, 'Chatbot Applications in Government Services', IEEE Transactions, 2023.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 link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5987" y="1064343"/>
            <a:ext cx="10668000" cy="4953000"/>
          </a:xfrm>
        </p:spPr>
        <p:txBody>
          <a:bodyPr>
            <a:normAutofit/>
          </a:bodyPr>
          <a:lstStyle/>
          <a:p>
            <a:pPr>
              <a:defRPr sz="1200"/>
            </a:pPr>
            <a:r>
              <a:rPr lang="en-IN" sz="3200" dirty="0">
                <a:solidFill>
                  <a:srgbClr val="000000"/>
                </a:solidFill>
                <a:latin typeface="Calibri"/>
              </a:rPr>
              <a:t>https://github.com/prjawal21/llm_based_chatbot.git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1324</Words>
  <Application>Microsoft Office PowerPoint</Application>
  <PresentationFormat>Widescreen</PresentationFormat>
  <Paragraphs>115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Verdana</vt:lpstr>
      <vt:lpstr>Wingdings</vt:lpstr>
      <vt:lpstr>Bioinformatics</vt:lpstr>
      <vt:lpstr>PSCS_17_ LLM BASED CHATBOT FOR PGRKAM EMPLOYMENT PORTAL</vt:lpstr>
      <vt:lpstr>Content</vt:lpstr>
      <vt:lpstr>Abstract</vt:lpstr>
      <vt:lpstr>Literature Survey</vt:lpstr>
      <vt:lpstr>Literature Survey</vt:lpstr>
      <vt:lpstr>Objectives</vt:lpstr>
      <vt:lpstr>Existing Methods and Drawbacks</vt:lpstr>
      <vt:lpstr>Proposed Method &amp; Feasibility Study</vt:lpstr>
      <vt:lpstr>Architecture Diagram</vt:lpstr>
      <vt:lpstr>Modules</vt:lpstr>
      <vt:lpstr>Hardware and Software Details</vt:lpstr>
      <vt:lpstr>Timeline (Gantt Chart)</vt:lpstr>
      <vt:lpstr>References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Prajwal P</cp:lastModifiedBy>
  <cp:revision>52</cp:revision>
  <dcterms:created xsi:type="dcterms:W3CDTF">2025-08-11T14:02:00Z</dcterms:created>
  <dcterms:modified xsi:type="dcterms:W3CDTF">2025-09-11T07:19:34Z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686B022832A446F9878299F0000DCA68_12</vt:lpwstr>
  </property>
  <property fmtid="{D5CDD505-2E9C-101B-9397-08002B2CF9AE}" pid="3" name="KSOProductBuildVer">
    <vt:lpwstr>1033-12.2.0.22222</vt:lpwstr>
  </property>
</Properties>
</file>